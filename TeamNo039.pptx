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Montserrat" panose="00000500000000000000" pitchFamily="2" charset="0"/>
      <p:regular r:id="rId11"/>
    </p:embeddedFont>
    <p:embeddedFont>
      <p:font typeface="Montserrat Bold" panose="00000800000000000000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5" name="Freeform 5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7" name="Freeform 7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9" name="Freeform 9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6490011" y="527147"/>
            <a:ext cx="7158399" cy="1395709"/>
            <a:chOff x="0" y="-19050"/>
            <a:chExt cx="9486990" cy="184972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34640" cy="1830677"/>
            </a:xfrm>
            <a:custGeom>
              <a:avLst/>
              <a:gdLst/>
              <a:ahLst/>
              <a:cxnLst/>
              <a:rect l="l" t="t" r="r" b="b"/>
              <a:pathLst>
                <a:path w="7034640" h="1830677">
                  <a:moveTo>
                    <a:pt x="0" y="0"/>
                  </a:moveTo>
                  <a:lnTo>
                    <a:pt x="7034640" y="0"/>
                  </a:lnTo>
                  <a:lnTo>
                    <a:pt x="7034640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9486990" cy="18497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23"/>
                </a:lnSpc>
              </a:pPr>
              <a:r>
                <a:rPr lang="en-US" sz="6799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</a:t>
              </a:r>
              <a:r>
                <a:rPr lang="en-US" sz="6799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Team No 39 </a:t>
              </a:r>
              <a:r>
                <a:rPr lang="en-US" sz="6799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4601201"/>
            <a:ext cx="5331440" cy="1365150"/>
            <a:chOff x="0" y="0"/>
            <a:chExt cx="7149504" cy="18306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49505" cy="1830677"/>
            </a:xfrm>
            <a:custGeom>
              <a:avLst/>
              <a:gdLst/>
              <a:ahLst/>
              <a:cxnLst/>
              <a:rect l="l" t="t" r="r" b="b"/>
              <a:pathLst>
                <a:path w="7149505" h="1830677">
                  <a:moveTo>
                    <a:pt x="0" y="0"/>
                  </a:moveTo>
                  <a:lnTo>
                    <a:pt x="7149505" y="0"/>
                  </a:lnTo>
                  <a:lnTo>
                    <a:pt x="7149505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149504" cy="1840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63"/>
                </a:lnSpc>
              </a:pPr>
              <a:r>
                <a:rPr lang="en-US" sz="43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Members: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50602" y="5939316"/>
            <a:ext cx="7158399" cy="163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741" lvl="1" indent="-289371" algn="l">
              <a:lnSpc>
                <a:spcPts val="4449"/>
              </a:lnSpc>
              <a:buAutoNum type="arabicPeriod"/>
            </a:pPr>
            <a:r>
              <a:rPr lang="en-US" sz="268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Mohammed Zaid Ahmed</a:t>
            </a:r>
          </a:p>
          <a:p>
            <a:pPr marL="578741" lvl="1" indent="-289371" algn="l">
              <a:lnSpc>
                <a:spcPts val="4449"/>
              </a:lnSpc>
              <a:buAutoNum type="arabicPeriod"/>
            </a:pPr>
            <a:r>
              <a:rPr lang="en-US" sz="268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Saad Mohammed</a:t>
            </a:r>
          </a:p>
          <a:p>
            <a:pPr marL="578741" lvl="1" indent="-289371">
              <a:lnSpc>
                <a:spcPts val="4449"/>
              </a:lnSpc>
              <a:buAutoNum type="arabicPeriod"/>
            </a:pPr>
            <a:r>
              <a:rPr lang="en-US" sz="268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Syed Abur Rahman Atif  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1922856"/>
            <a:ext cx="15977639" cy="1683967"/>
            <a:chOff x="0" y="0"/>
            <a:chExt cx="21493204" cy="226528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49953" cy="1830677"/>
            </a:xfrm>
            <a:custGeom>
              <a:avLst/>
              <a:gdLst/>
              <a:ahLst/>
              <a:cxnLst/>
              <a:rect l="l" t="t" r="r" b="b"/>
              <a:pathLst>
                <a:path w="9949953" h="1830677">
                  <a:moveTo>
                    <a:pt x="0" y="0"/>
                  </a:moveTo>
                  <a:lnTo>
                    <a:pt x="9949953" y="0"/>
                  </a:lnTo>
                  <a:lnTo>
                    <a:pt x="9949953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25080"/>
              <a:ext cx="21493204" cy="1840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263"/>
                </a:lnSpc>
              </a:pPr>
              <a:r>
                <a:rPr lang="en-US" sz="430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 Title: </a:t>
              </a:r>
              <a:r>
                <a:rPr lang="en-IN" sz="4400" dirty="0">
                  <a:solidFill>
                    <a:schemeClr val="bg1"/>
                  </a:solidFill>
                  <a:latin typeface="Montserrat Bold" panose="020B0604020202020204" charset="0"/>
                </a:rPr>
                <a:t>Voice-Enabled Code Assistant </a:t>
              </a:r>
              <a:endParaRPr lang="en-US" sz="4300" b="1" dirty="0">
                <a:solidFill>
                  <a:schemeClr val="bg1"/>
                </a:solidFill>
                <a:latin typeface="Montserrat Bold" panose="020B0604020202020204" charset="0"/>
                <a:ea typeface="Montserrat Bold"/>
                <a:cs typeface="Montserrat Bold"/>
                <a:sym typeface="Montserrat 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600071"/>
            <a:ext cx="7274992" cy="1366770"/>
            <a:chOff x="0" y="0"/>
            <a:chExt cx="9699989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99990" cy="1822359"/>
            </a:xfrm>
            <a:custGeom>
              <a:avLst/>
              <a:gdLst/>
              <a:ahLst/>
              <a:cxnLst/>
              <a:rect l="l" t="t" r="r" b="b"/>
              <a:pathLst>
                <a:path w="9699990" h="1822359">
                  <a:moveTo>
                    <a:pt x="0" y="0"/>
                  </a:moveTo>
                  <a:lnTo>
                    <a:pt x="9699990" y="0"/>
                  </a:lnTo>
                  <a:lnTo>
                    <a:pt x="9699990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9699989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Proposed Solution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087600" y="336499"/>
            <a:ext cx="25841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no 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DCE6A6-8BEE-8BAB-4549-ACD45D96C1C5}"/>
              </a:ext>
            </a:extLst>
          </p:cNvPr>
          <p:cNvSpPr txBox="1"/>
          <p:nvPr/>
        </p:nvSpPr>
        <p:spPr>
          <a:xfrm>
            <a:off x="1371600" y="2136018"/>
            <a:ext cx="147066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Montserrat Bold" panose="020B0604020202020204" charset="0"/>
              </a:rPr>
              <a:t>Problem Statement: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Context Switching: Developers constantly interrupt flow by switching between typing, running code, and interacting with external AI tools.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Latency: Traditional AI coding tools involve slow copy-paste cycles or asynchronous requests, reducing productivity.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Accessibility: Reliance on keyboard input limits coding for users with motor disabilities or those preferring natural interaction.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i="1" dirty="0">
              <a:solidFill>
                <a:schemeClr val="bg1"/>
              </a:solidFill>
              <a:latin typeface="Montserrat Bold" panose="020B0604020202020204" charset="0"/>
            </a:endParaRPr>
          </a:p>
          <a:p>
            <a:r>
              <a:rPr lang="en-US" sz="3200" b="1" i="1" dirty="0">
                <a:solidFill>
                  <a:schemeClr val="bg1"/>
                </a:solidFill>
                <a:latin typeface="Montserrat Bold" panose="020B0604020202020204" charset="0"/>
              </a:rPr>
              <a:t>Proposed Solution: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Integrated </a:t>
            </a: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Google Gemini Live Session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directly into the </a:t>
            </a: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Monaco Editor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Enables </a:t>
            </a: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real-time, low-latency, bidirectional voice interaction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for coding.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Transcribes natural language commands and executes them instantly as code manipulations or execution triggers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579884"/>
            <a:ext cx="5015677" cy="1366770"/>
            <a:chOff x="0" y="0"/>
            <a:chExt cx="6687569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87570" cy="1822359"/>
            </a:xfrm>
            <a:custGeom>
              <a:avLst/>
              <a:gdLst/>
              <a:ahLst/>
              <a:cxnLst/>
              <a:rect l="l" t="t" r="r" b="b"/>
              <a:pathLst>
                <a:path w="6687570" h="1822359">
                  <a:moveTo>
                    <a:pt x="0" y="0"/>
                  </a:moveTo>
                  <a:lnTo>
                    <a:pt x="6687570" y="0"/>
                  </a:lnTo>
                  <a:lnTo>
                    <a:pt x="6687570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6687569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 Stack 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011400" y="336499"/>
            <a:ext cx="26603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no 39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B7A85A1-CA17-C0D2-F3B7-38A375CF0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012721"/>
              </p:ext>
            </p:extLst>
          </p:nvPr>
        </p:nvGraphicFramePr>
        <p:xfrm>
          <a:off x="1571009" y="1845961"/>
          <a:ext cx="14126190" cy="727137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08730">
                  <a:extLst>
                    <a:ext uri="{9D8B030D-6E8A-4147-A177-3AD203B41FA5}">
                      <a16:colId xmlns:a16="http://schemas.microsoft.com/office/drawing/2014/main" val="3830918867"/>
                    </a:ext>
                  </a:extLst>
                </a:gridCol>
                <a:gridCol w="4708730">
                  <a:extLst>
                    <a:ext uri="{9D8B030D-6E8A-4147-A177-3AD203B41FA5}">
                      <a16:colId xmlns:a16="http://schemas.microsoft.com/office/drawing/2014/main" val="3994141203"/>
                    </a:ext>
                  </a:extLst>
                </a:gridCol>
                <a:gridCol w="4708730">
                  <a:extLst>
                    <a:ext uri="{9D8B030D-6E8A-4147-A177-3AD203B41FA5}">
                      <a16:colId xmlns:a16="http://schemas.microsoft.com/office/drawing/2014/main" val="1438696006"/>
                    </a:ext>
                  </a:extLst>
                </a:gridCol>
              </a:tblGrid>
              <a:tr h="37345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Category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Key Technologies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Role in Project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351971"/>
                  </a:ext>
                </a:extLst>
              </a:tr>
              <a:tr h="13048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AI/Core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Google Gemini API (Live Session)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Real-time speech transcription, natural language analysis, and function calling.</a:t>
                      </a: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146908"/>
                  </a:ext>
                </a:extLst>
              </a:tr>
              <a:tr h="9944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Frontend/Framework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Next.js, React, Tailwind CSS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Application framework; modern, responsive UI design.</a:t>
                      </a: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110065"/>
                  </a:ext>
                </a:extLst>
              </a:tr>
              <a:tr h="9944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Code Editor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Monaco Editor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High-performance, feature-rich code editing environment.</a:t>
                      </a: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20522"/>
                  </a:ext>
                </a:extLst>
              </a:tr>
              <a:tr h="13048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State Management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Zustand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Centralized, performant state for code, language, editor instance, and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assistantStatus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.</a:t>
                      </a: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970849"/>
                  </a:ext>
                </a:extLst>
              </a:tr>
              <a:tr h="9944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Audio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Web Audio API</a:t>
                      </a:r>
                      <a:r>
                        <a:rPr lang="en-IN" sz="180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 (AudioContext), audioUtils.ts</a:t>
                      </a: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Captures microphone audio, encodes/decodes PCM data for Gemini's Live Session.</a:t>
                      </a: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100392"/>
                  </a:ext>
                </a:extLst>
              </a:tr>
              <a:tr h="13048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Tooling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Function Calling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Montserrat Bold" panose="020B0604020202020204" charset="0"/>
                      </a:endParaRP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Provides the AI with specific abilities to modify the code (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insertCodeAtCursor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, 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updateCode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  <a:latin typeface="Montserrat Bold" panose="020B0604020202020204" charset="0"/>
                        </a:rPr>
                        <a:t>, etc.).</a:t>
                      </a:r>
                    </a:p>
                  </a:txBody>
                  <a:tcPr marL="55647" marR="55647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85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584763"/>
            <a:ext cx="7776685" cy="1366770"/>
            <a:chOff x="0" y="0"/>
            <a:chExt cx="10368913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68914" cy="1822359"/>
            </a:xfrm>
            <a:custGeom>
              <a:avLst/>
              <a:gdLst/>
              <a:ahLst/>
              <a:cxnLst/>
              <a:rect l="l" t="t" r="r" b="b"/>
              <a:pathLst>
                <a:path w="10368914" h="1822359">
                  <a:moveTo>
                    <a:pt x="0" y="0"/>
                  </a:moveTo>
                  <a:lnTo>
                    <a:pt x="10368914" y="0"/>
                  </a:lnTo>
                  <a:lnTo>
                    <a:pt x="10368914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0368913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011400" y="336499"/>
            <a:ext cx="26603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no 39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0123122-0102-145B-6108-D54FDE2669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029" y="1951533"/>
            <a:ext cx="6792424" cy="6792424"/>
          </a:xfrm>
          <a:prstGeom prst="rect">
            <a:avLst/>
          </a:prstGeom>
        </p:spPr>
      </p:pic>
      <p:sp>
        <p:nvSpPr>
          <p:cNvPr id="26" name="Rectangle 5">
            <a:extLst>
              <a:ext uri="{FF2B5EF4-FFF2-40B4-BE49-F238E27FC236}">
                <a16:creationId xmlns:a16="http://schemas.microsoft.com/office/drawing/2014/main" id="{B1444F2C-E7D4-C4E7-953C-1AC3B11DC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109" y="1631886"/>
            <a:ext cx="7647943" cy="7940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Input Pipeline (Microphone to AI):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Bold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User speaks a command (e.g., "Create a Python function to reverse a string").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Web Audio 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captures the audio stream,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downsamples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16kHz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audioUtils.ts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encodes the PCM data and sends it to Gemini via WebSocket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Live Session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AI Decision Layer: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Bold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Gemini analyzes the audio, context (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current code/language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from the System Prompt), and determines the best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Function Call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insertCodeAtCursor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Bold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Output Pipeline (AI to Editor):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ontserrat Bold" panose="020B060402020202020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executeToolCall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function on the client receives the instruction and arguments.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The function uses the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Zustand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store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to access the live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Monaco Editor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instance.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It calls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editor.executeEdits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to insert the generated code at the current cursor position.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Gemini optionally sends back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audio feedback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 Bold" panose="020B0604020202020204" charset="0"/>
              </a:rPr>
              <a:t> (Text-to-Speech) which is played via the browser's audio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542303"/>
            <a:ext cx="6745500" cy="1366770"/>
            <a:chOff x="0" y="0"/>
            <a:chExt cx="8994000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94001" cy="1822359"/>
            </a:xfrm>
            <a:custGeom>
              <a:avLst/>
              <a:gdLst/>
              <a:ahLst/>
              <a:cxnLst/>
              <a:rect l="l" t="t" r="r" b="b"/>
              <a:pathLst>
                <a:path w="8994001" h="1822359">
                  <a:moveTo>
                    <a:pt x="0" y="0"/>
                  </a:moveTo>
                  <a:lnTo>
                    <a:pt x="8994001" y="0"/>
                  </a:lnTo>
                  <a:lnTo>
                    <a:pt x="8994001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8994000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Implementation 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90625" y="9185486"/>
            <a:ext cx="1095375" cy="533401"/>
            <a:chOff x="0" y="0"/>
            <a:chExt cx="1460500" cy="711201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460500" cy="711200"/>
            </a:xfrm>
            <a:custGeom>
              <a:avLst/>
              <a:gdLst/>
              <a:ahLst/>
              <a:cxnLst/>
              <a:rect l="l" t="t" r="r" b="b"/>
              <a:pathLst>
                <a:path w="1460500" h="711200">
                  <a:moveTo>
                    <a:pt x="0" y="0"/>
                  </a:moveTo>
                  <a:lnTo>
                    <a:pt x="1460500" y="0"/>
                  </a:lnTo>
                  <a:lnTo>
                    <a:pt x="14605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5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590800" y="9440968"/>
            <a:ext cx="5667374" cy="19050"/>
            <a:chOff x="0" y="0"/>
            <a:chExt cx="7556499" cy="254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272713" y="9440968"/>
            <a:ext cx="5667373" cy="19050"/>
            <a:chOff x="0" y="0"/>
            <a:chExt cx="7556497" cy="254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336640" y="9117337"/>
            <a:ext cx="669699" cy="669699"/>
          </a:xfrm>
          <a:custGeom>
            <a:avLst/>
            <a:gdLst/>
            <a:ahLst/>
            <a:cxnLst/>
            <a:rect l="l" t="t" r="r" b="b"/>
            <a:pathLst>
              <a:path w="669699" h="669699">
                <a:moveTo>
                  <a:pt x="0" y="0"/>
                </a:moveTo>
                <a:lnTo>
                  <a:pt x="669699" y="0"/>
                </a:lnTo>
                <a:lnTo>
                  <a:pt x="669699" y="669699"/>
                </a:lnTo>
                <a:lnTo>
                  <a:pt x="0" y="669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7774200" y="9326675"/>
            <a:ext cx="2739600" cy="314170"/>
            <a:chOff x="0" y="0"/>
            <a:chExt cx="3652800" cy="4188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52800" cy="418894"/>
            </a:xfrm>
            <a:custGeom>
              <a:avLst/>
              <a:gdLst/>
              <a:ahLst/>
              <a:cxnLst/>
              <a:rect l="l" t="t" r="r" b="b"/>
              <a:pathLst>
                <a:path w="3652800" h="418894">
                  <a:moveTo>
                    <a:pt x="0" y="0"/>
                  </a:moveTo>
                  <a:lnTo>
                    <a:pt x="3652800" y="0"/>
                  </a:lnTo>
                  <a:lnTo>
                    <a:pt x="3652800" y="418894"/>
                  </a:lnTo>
                  <a:lnTo>
                    <a:pt x="0" y="4188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652800" cy="4284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2"/>
                </a:lnSpc>
              </a:pPr>
              <a:r>
                <a:rPr lang="en-US" sz="1600" b="1">
                  <a:solidFill>
                    <a:srgbClr val="D0CCE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CBIT Hacktoberfest 2025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163800" y="336499"/>
            <a:ext cx="25079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no 39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3F7044-D060-EA3D-03D4-E64901E1765C}"/>
              </a:ext>
            </a:extLst>
          </p:cNvPr>
          <p:cNvSpPr txBox="1"/>
          <p:nvPr/>
        </p:nvSpPr>
        <p:spPr>
          <a:xfrm>
            <a:off x="1028699" y="1676789"/>
            <a:ext cx="15049500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solidFill>
                  <a:schemeClr val="bg1"/>
                </a:solidFill>
                <a:latin typeface="Montserrat Bold" panose="020B0604020202020204" charset="0"/>
              </a:rPr>
              <a:t>Key Features </a:t>
            </a:r>
            <a:endParaRPr lang="en-US" sz="2800" i="1" dirty="0">
              <a:solidFill>
                <a:schemeClr val="bg1"/>
              </a:solidFill>
              <a:latin typeface="Montserrat Bold" panose="020B060402020202020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Custom Function Calling: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Implemented four core tools: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Montserrat Bold" panose="020B0604020202020204" charset="0"/>
              </a:rPr>
              <a:t>insertCodeAtCursor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: For adding small snippets at the user's focus point.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Montserrat Bold" panose="020B0604020202020204" charset="0"/>
              </a:rPr>
              <a:t>updateCode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: For full file replacement (e.g., generating boilerplate).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Montserrat Bold" panose="020B0604020202020204" charset="0"/>
              </a:rPr>
              <a:t>appendCode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: For adding code to the end of the file.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Montserrat Bold" panose="020B0604020202020204" charset="0"/>
              </a:rPr>
              <a:t>executeCode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: Triggers the existing </a:t>
            </a:r>
            <a:r>
              <a:rPr lang="en-US" sz="2400" dirty="0" err="1">
                <a:solidFill>
                  <a:schemeClr val="bg1"/>
                </a:solidFill>
                <a:latin typeface="Montserrat Bold" panose="020B0604020202020204" charset="0"/>
              </a:rPr>
              <a:t>runCode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logic via the </a:t>
            </a:r>
            <a:r>
              <a:rPr lang="en-US" sz="2400" dirty="0" err="1">
                <a:solidFill>
                  <a:schemeClr val="bg1"/>
                </a:solidFill>
                <a:latin typeface="Montserrat Bold" panose="020B0604020202020204" charset="0"/>
              </a:rPr>
              <a:t>Zustand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store.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Low-Latency Control: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Used Next.js </a:t>
            </a: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Client Components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and </a:t>
            </a: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dynamic imports ({ </a:t>
            </a:r>
            <a:r>
              <a:rPr lang="en-US" sz="2400" b="1" dirty="0" err="1">
                <a:solidFill>
                  <a:schemeClr val="bg1"/>
                </a:solidFill>
                <a:latin typeface="Montserrat Bold" panose="020B0604020202020204" charset="0"/>
              </a:rPr>
              <a:t>ssr</a:t>
            </a: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: false })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to ensure Monaco and Web Audio run without Server-Side Rendering (SSR) conflicts.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State Synchronization: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The </a:t>
            </a:r>
            <a:r>
              <a:rPr lang="en-US" sz="2400" dirty="0" err="1">
                <a:solidFill>
                  <a:schemeClr val="bg1"/>
                </a:solidFill>
                <a:latin typeface="Montserrat Bold" panose="020B0604020202020204" charset="0"/>
              </a:rPr>
              <a:t>page.tsx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component synchronizes the UI (status, transcriptions) with the live state of the </a:t>
            </a:r>
            <a:r>
              <a:rPr lang="en-US" sz="2400" b="1" dirty="0" err="1">
                <a:solidFill>
                  <a:schemeClr val="bg1"/>
                </a:solidFill>
                <a:latin typeface="Montserrat Bold" panose="020B0604020202020204" charset="0"/>
              </a:rPr>
              <a:t>Zustand</a:t>
            </a: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 store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to maintain reliability across all parts of the application.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  <a:latin typeface="Montserrat Bold" panose="020B0604020202020204" charset="0"/>
              </a:rPr>
              <a:t>Real-time Status:</a:t>
            </a:r>
            <a:r>
              <a:rPr lang="en-US" sz="2400" dirty="0">
                <a:solidFill>
                  <a:schemeClr val="bg1"/>
                </a:solidFill>
                <a:latin typeface="Montserrat Bold" panose="020B0604020202020204" charset="0"/>
              </a:rPr>
              <a:t> The Assistant Panel provides immediate visual feedback (LISTENING, PROCESSING, ERROR).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660032"/>
            <a:ext cx="9709648" cy="1373007"/>
            <a:chOff x="0" y="0"/>
            <a:chExt cx="12946197" cy="18306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46198" cy="1830677"/>
            </a:xfrm>
            <a:custGeom>
              <a:avLst/>
              <a:gdLst/>
              <a:ahLst/>
              <a:cxnLst/>
              <a:rect l="l" t="t" r="r" b="b"/>
              <a:pathLst>
                <a:path w="12946198" h="1830677">
                  <a:moveTo>
                    <a:pt x="0" y="0"/>
                  </a:moveTo>
                  <a:lnTo>
                    <a:pt x="12946198" y="0"/>
                  </a:lnTo>
                  <a:lnTo>
                    <a:pt x="12946198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2946197" cy="1840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Challenges and Outcomes 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240000" y="336499"/>
            <a:ext cx="24317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no 39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90C61F-C209-AC00-D7A3-CF151A952E79}"/>
              </a:ext>
            </a:extLst>
          </p:cNvPr>
          <p:cNvSpPr txBox="1"/>
          <p:nvPr/>
        </p:nvSpPr>
        <p:spPr>
          <a:xfrm>
            <a:off x="1438275" y="1767523"/>
            <a:ext cx="13639800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dirty="0">
                <a:solidFill>
                  <a:schemeClr val="bg1"/>
                </a:solidFill>
                <a:latin typeface="Montserrat Bold" panose="020B0604020202020204" charset="0"/>
              </a:rPr>
              <a:t>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Montserrat Bold" panose="020B0604020202020204" charset="0"/>
              </a:rPr>
              <a:t>SSR Compatibility: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 Resolving the major conflict between </a:t>
            </a:r>
            <a:r>
              <a:rPr lang="en-IN" sz="2800" dirty="0" err="1">
                <a:solidFill>
                  <a:schemeClr val="bg1"/>
                </a:solidFill>
                <a:latin typeface="Montserrat Bold" panose="020B0604020202020204" charset="0"/>
              </a:rPr>
              <a:t>Next.js's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 Server-Side Rendering and the browser-specific Monaco Editor/Web Audio APIs.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Montserrat Bold" panose="020B0604020202020204" charset="0"/>
              </a:rPr>
              <a:t>Asynchronous State: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 Ensuring the AI always had the </a:t>
            </a:r>
            <a:r>
              <a:rPr lang="en-IN" sz="2800" b="1" dirty="0">
                <a:solidFill>
                  <a:schemeClr val="bg1"/>
                </a:solidFill>
                <a:latin typeface="Montserrat Bold" panose="020B0604020202020204" charset="0"/>
              </a:rPr>
              <a:t>latest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 code and language, solved by using </a:t>
            </a:r>
            <a:r>
              <a:rPr lang="en-IN" sz="2800" b="1" dirty="0" err="1">
                <a:solidFill>
                  <a:schemeClr val="bg1"/>
                </a:solidFill>
                <a:latin typeface="Montserrat Bold" panose="020B0604020202020204" charset="0"/>
              </a:rPr>
              <a:t>Zustand</a:t>
            </a:r>
            <a:r>
              <a:rPr lang="en-IN" sz="2800" b="1" dirty="0">
                <a:solidFill>
                  <a:schemeClr val="bg1"/>
                </a:solidFill>
                <a:latin typeface="Montserrat Bold" panose="020B0604020202020204" charset="0"/>
              </a:rPr>
              <a:t> Store Refs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 (</a:t>
            </a:r>
            <a:r>
              <a:rPr lang="en-IN" sz="2800" dirty="0" err="1">
                <a:solidFill>
                  <a:schemeClr val="bg1"/>
                </a:solidFill>
                <a:latin typeface="Montserrat Bold" panose="020B0604020202020204" charset="0"/>
              </a:rPr>
              <a:t>codeEditorStoreRef.current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bg1"/>
                </a:solidFill>
                <a:latin typeface="Montserrat Bold" panose="020B0604020202020204" charset="0"/>
              </a:rPr>
              <a:t>Audio Stream Management: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 Setting up the audio graph (</a:t>
            </a:r>
            <a:r>
              <a:rPr lang="en-IN" sz="2800" dirty="0" err="1">
                <a:solidFill>
                  <a:schemeClr val="bg1"/>
                </a:solidFill>
                <a:latin typeface="Montserrat Bold" panose="020B0604020202020204" charset="0"/>
              </a:rPr>
              <a:t>ScriptProcessorNode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) and handling the custom encoding for Gemini's required 16kHz audio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Montserrat Bold" panose="020B0604020202020204" charset="0"/>
            </a:endParaRPr>
          </a:p>
          <a:p>
            <a:r>
              <a:rPr lang="en-IN" sz="3200" b="1" i="1" dirty="0">
                <a:solidFill>
                  <a:schemeClr val="bg1"/>
                </a:solidFill>
                <a:latin typeface="Montserrat Bold" panose="020B0604020202020204" charset="0"/>
              </a:rPr>
              <a:t>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A fully integrated coding environment supporting </a:t>
            </a:r>
            <a:r>
              <a:rPr lang="en-IN" sz="2800" b="1" dirty="0">
                <a:solidFill>
                  <a:schemeClr val="bg1"/>
                </a:solidFill>
                <a:latin typeface="Montserrat Bold" panose="020B0604020202020204" charset="0"/>
              </a:rPr>
              <a:t>10+ languages</a:t>
            </a: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 (Python, JS, C++, etc.).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Demonstrably functional, hands-free code generation and execution.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Montserrat Bold" panose="020B0604020202020204" charset="0"/>
              </a:rPr>
              <a:t>Achieved a clean, modular architecture separating UI, state, and Gemini logic.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583749"/>
            <a:ext cx="7773917" cy="1366770"/>
            <a:chOff x="0" y="0"/>
            <a:chExt cx="10365222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65223" cy="1822359"/>
            </a:xfrm>
            <a:custGeom>
              <a:avLst/>
              <a:gdLst/>
              <a:ahLst/>
              <a:cxnLst/>
              <a:rect l="l" t="t" r="r" b="b"/>
              <a:pathLst>
                <a:path w="10365223" h="1822359">
                  <a:moveTo>
                    <a:pt x="0" y="0"/>
                  </a:moveTo>
                  <a:lnTo>
                    <a:pt x="10365223" y="0"/>
                  </a:lnTo>
                  <a:lnTo>
                    <a:pt x="10365223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0365222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Impact &amp; Use Cases 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90625" y="9185486"/>
            <a:ext cx="1095375" cy="533401"/>
            <a:chOff x="0" y="0"/>
            <a:chExt cx="1460500" cy="711201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460500" cy="711200"/>
            </a:xfrm>
            <a:custGeom>
              <a:avLst/>
              <a:gdLst/>
              <a:ahLst/>
              <a:cxnLst/>
              <a:rect l="l" t="t" r="r" b="b"/>
              <a:pathLst>
                <a:path w="1460500" h="711200">
                  <a:moveTo>
                    <a:pt x="0" y="0"/>
                  </a:moveTo>
                  <a:lnTo>
                    <a:pt x="1460500" y="0"/>
                  </a:lnTo>
                  <a:lnTo>
                    <a:pt x="14605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5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590800" y="9440968"/>
            <a:ext cx="5667374" cy="19050"/>
            <a:chOff x="0" y="0"/>
            <a:chExt cx="7556499" cy="254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272713" y="9440968"/>
            <a:ext cx="5667373" cy="19050"/>
            <a:chOff x="0" y="0"/>
            <a:chExt cx="7556497" cy="254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336640" y="9117337"/>
            <a:ext cx="669699" cy="669699"/>
          </a:xfrm>
          <a:custGeom>
            <a:avLst/>
            <a:gdLst/>
            <a:ahLst/>
            <a:cxnLst/>
            <a:rect l="l" t="t" r="r" b="b"/>
            <a:pathLst>
              <a:path w="669699" h="669699">
                <a:moveTo>
                  <a:pt x="0" y="0"/>
                </a:moveTo>
                <a:lnTo>
                  <a:pt x="669699" y="0"/>
                </a:lnTo>
                <a:lnTo>
                  <a:pt x="669699" y="669699"/>
                </a:lnTo>
                <a:lnTo>
                  <a:pt x="0" y="669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7774200" y="9326675"/>
            <a:ext cx="2739600" cy="314170"/>
            <a:chOff x="0" y="0"/>
            <a:chExt cx="3652800" cy="4188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52800" cy="418894"/>
            </a:xfrm>
            <a:custGeom>
              <a:avLst/>
              <a:gdLst/>
              <a:ahLst/>
              <a:cxnLst/>
              <a:rect l="l" t="t" r="r" b="b"/>
              <a:pathLst>
                <a:path w="3652800" h="418894">
                  <a:moveTo>
                    <a:pt x="0" y="0"/>
                  </a:moveTo>
                  <a:lnTo>
                    <a:pt x="3652800" y="0"/>
                  </a:lnTo>
                  <a:lnTo>
                    <a:pt x="3652800" y="418894"/>
                  </a:lnTo>
                  <a:lnTo>
                    <a:pt x="0" y="4188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652800" cy="4284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2"/>
                </a:lnSpc>
              </a:pPr>
              <a:r>
                <a:rPr lang="en-US" sz="1600" b="1">
                  <a:solidFill>
                    <a:srgbClr val="D0CCE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CBIT Hacktoberfest 2025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859000" y="336499"/>
            <a:ext cx="28127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no 39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4F04E0-EFA6-A170-BE97-C805D18793F3}"/>
              </a:ext>
            </a:extLst>
          </p:cNvPr>
          <p:cNvSpPr txBox="1"/>
          <p:nvPr/>
        </p:nvSpPr>
        <p:spPr>
          <a:xfrm>
            <a:off x="8686800" y="468998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60C0A2-906F-6082-3781-177FD94FDCE5}"/>
              </a:ext>
            </a:extLst>
          </p:cNvPr>
          <p:cNvSpPr txBox="1"/>
          <p:nvPr/>
        </p:nvSpPr>
        <p:spPr>
          <a:xfrm>
            <a:off x="1524000" y="2005585"/>
            <a:ext cx="15697200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>
                <a:solidFill>
                  <a:schemeClr val="bg1"/>
                </a:solidFill>
                <a:latin typeface="Montserrat Bold" panose="020B0604020202020204" charset="0"/>
              </a:rPr>
              <a:t>Impact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Productivity Boost: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Reduces mental load and physical context switching (keyboard to mouse to AI chat) to zero.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Accessibility: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Provides a powerful, voice-first development pathway, opening coding to a wider audience.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Future-Proofing: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Establishes a foundation for complex code debugging, refactoring, and AI-assisted pair programming via voice.</a:t>
            </a:r>
          </a:p>
          <a:p>
            <a:endParaRPr lang="en-US" sz="2800" dirty="0">
              <a:solidFill>
                <a:schemeClr val="bg1"/>
              </a:solidFill>
              <a:latin typeface="Montserrat Bold" panose="020B0604020202020204" charset="0"/>
            </a:endParaRPr>
          </a:p>
          <a:p>
            <a:r>
              <a:rPr lang="en-US" sz="3600" b="1" i="1" dirty="0">
                <a:solidFill>
                  <a:schemeClr val="bg1"/>
                </a:solidFill>
                <a:latin typeface="Montserrat Bold" panose="020B0604020202020204" charset="0"/>
              </a:rPr>
              <a:t>Use Cases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Rapid Prototyping: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Generating large functions or file structures with a single command.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Debugging: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Commanding the AI to "Run the code" or "Insert a print statement here to check X variable."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Refactoring: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Directing the AI to "Change this for loop to a while loop."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ontserrat Bold" panose="020B0604020202020204" charset="0"/>
              </a:rPr>
              <a:t>Documentation:</a:t>
            </a:r>
            <a:r>
              <a:rPr lang="en-US" sz="2800" dirty="0">
                <a:solidFill>
                  <a:schemeClr val="bg1"/>
                </a:solidFill>
                <a:latin typeface="Montserrat Bold" panose="020B0604020202020204" charset="0"/>
              </a:rPr>
              <a:t> Generating quick documentation comments via voice.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868</Words>
  <Application>Microsoft Office PowerPoint</Application>
  <PresentationFormat>Custom</PresentationFormat>
  <Paragraphs>117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Canva Sans</vt:lpstr>
      <vt:lpstr>Arial</vt:lpstr>
      <vt:lpstr>Calibri</vt:lpstr>
      <vt:lpstr>Montserrat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PPT__Template</dc:title>
  <dc:creator>SAAD MOHAMMED</dc:creator>
  <cp:lastModifiedBy>Saad Mohammed</cp:lastModifiedBy>
  <cp:revision>3</cp:revision>
  <dcterms:created xsi:type="dcterms:W3CDTF">2006-08-16T00:00:00Z</dcterms:created>
  <dcterms:modified xsi:type="dcterms:W3CDTF">2025-10-26T07:49:16Z</dcterms:modified>
  <dc:identifier>DAG2uVeZFt4</dc:identifier>
</cp:coreProperties>
</file>